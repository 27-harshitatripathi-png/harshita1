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320040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99064" y="337184"/>
            <a:ext cx="23317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E60000"/>
                </a:solidFill>
                <a:latin typeface="Arial"/>
              </a:defRPr>
            </a:pPr>
            <a:r>
              <a:t>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21390" y="357759"/>
            <a:ext cx="857250" cy="2400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5" b="1">
                <a:solidFill>
                  <a:srgbClr val="FFFFFF"/>
                </a:solidFill>
                <a:latin typeface="Arial"/>
              </a:defRPr>
            </a:pPr>
            <a:r>
              <a:t>vodafone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0B0B0"/>
                </a:solidFill>
              </a:defRPr>
            </a:pPr>
            <a: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50292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31495"/>
            <a:ext cx="38862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50" b="1">
                <a:solidFill>
                  <a:srgbClr val="E60000"/>
                </a:solidFill>
                <a:latin typeface="Arial"/>
              </a:defRPr>
            </a:pPr>
            <a:r>
              <a:t>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3010" y="565785"/>
            <a:ext cx="142875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75" b="1">
                <a:solidFill>
                  <a:srgbClr val="FFFFFF"/>
                </a:solidFill>
                <a:latin typeface="Arial"/>
              </a:defRPr>
            </a:pPr>
            <a:r>
              <a:t>vodafone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60704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rial"/>
              </a:defRPr>
            </a:pPr>
            <a:r>
              <a:t>Working-Capital Distress</a:t>
            </a:r>
            <a:br/>
            <a:r>
              <a:t>at Vodafone Idea Ltd.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52928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>
                <a:solidFill>
                  <a:srgbClr val="F3F3F3"/>
                </a:solidFill>
                <a:latin typeface="Arial"/>
              </a:defRPr>
            </a:pPr>
            <a:r>
              <a:t>A Longitudinal Analysis of Liquidity, Investment &amp; Financing Decisions | FY21–FY26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03320"/>
            <a:ext cx="10652760" cy="1920240"/>
          </a:xfrm>
          <a:prstGeom prst="roundRect">
            <a:avLst/>
          </a:prstGeom>
          <a:solidFill>
            <a:srgbClr val="B50000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319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CORE ARGUMENT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15968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Negative working capital persisted through FY21–FY26, driven primarily by the current-liability burden.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Investment intensity collapsed in FY24 and rebounded after the FY24 equity raise and subsequent restructuring.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The case links working-capital pressure with investment constraints and financing dependence.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23620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>
                <a:solidFill>
                  <a:srgbClr val="DDDDDD"/>
                </a:solidFill>
                <a:latin typeface="Arial"/>
              </a:defRPr>
            </a:pPr>
            <a:r>
              <a:t>Source: Vodafone Idea Ltd. Annual Reports / Investor Presentations; C-MOTS via Screener; S&amp;P Global. Consolidated financial statements.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515"/>
                </a:solidFill>
                <a:latin typeface="Arial"/>
              </a:defRPr>
            </a:pPr>
            <a:r>
              <a:t>Why Vodafone Idea?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6666"/>
                </a:solidFill>
                <a:latin typeface="Arial"/>
              </a:defRPr>
            </a:pPr>
            <a:r>
              <a:t>A clear longitudinal case of Working Capital → Investment → Financing → Operating Performance</a:t>
            </a:r>
          </a:p>
        </p:txBody>
      </p:sp>
      <p:sp>
        <p:nvSpPr>
          <p:cNvPr id="5" name="Oval 4"/>
          <p:cNvSpPr/>
          <p:nvPr/>
        </p:nvSpPr>
        <p:spPr>
          <a:xfrm>
            <a:off x="10835640" y="201168"/>
            <a:ext cx="329184" cy="329184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90504" y="218313"/>
            <a:ext cx="23317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12830" y="238886"/>
            <a:ext cx="857250" cy="2400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5" b="1">
                <a:solidFill>
                  <a:srgbClr val="E60000"/>
                </a:solidFill>
                <a:latin typeface="Arial"/>
              </a:defRPr>
            </a:pPr>
            <a:r>
              <a:t>vodafone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0B0B0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9844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Key FY21–FY26 movements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1691640"/>
          <a:ext cx="74523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1417320"/>
                <a:gridCol w="1417320"/>
                <a:gridCol w="237744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L="64008" marR="45720" marT="36576" marB="36576">
                    <a:solidFill>
                      <a:srgbClr val="E6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FY21</a:t>
                      </a:r>
                    </a:p>
                  </a:txBody>
                  <a:tcPr marL="64008" marR="45720" marT="36576" marB="36576">
                    <a:solidFill>
                      <a:srgbClr val="E6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FY26</a:t>
                      </a:r>
                    </a:p>
                  </a:txBody>
                  <a:tcPr marL="64008" marR="45720" marT="36576" marB="36576">
                    <a:solidFill>
                      <a:srgbClr val="E6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Change</a:t>
                      </a:r>
                    </a:p>
                  </a:txBody>
                  <a:tcPr marL="64008" marR="45720" marT="36576" marB="36576">
                    <a:solidFill>
                      <a:srgbClr val="E6000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Revenue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₹41,952 cr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₹44,873 cr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+7.0%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EBITDA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₹16,946 cr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₹18,859 cr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+11.3%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EBITDA Margin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40.4%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42.0%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+1.6 pp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Q4 Exit ARPU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₹107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₹190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+77.6%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Subscribers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267.8m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192.8m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−75.0m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NWC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−₹52,303 cr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−₹17,813 cr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Deficit reduced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366760" y="1828800"/>
            <a:ext cx="3154680" cy="1965960"/>
          </a:xfrm>
          <a:prstGeom prst="roundRect">
            <a:avLst/>
          </a:prstGeom>
          <a:solidFill>
            <a:srgbClr val="FAFAFA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1352" y="1938528"/>
            <a:ext cx="28254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KEY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352" y="2267712"/>
            <a:ext cx="2825496" cy="1435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51515"/>
                </a:solidFill>
                <a:latin typeface="Arial"/>
              </a:defRPr>
            </a:pPr>
            <a:r>
              <a:t>Operating profitability and ARPU improved, but Vodafone Idea continued to carry a substantial working-capital deficit.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4069080"/>
            <a:ext cx="3154680" cy="1417320"/>
          </a:xfrm>
          <a:prstGeom prst="roundRect">
            <a:avLst/>
          </a:prstGeom>
          <a:solidFill>
            <a:srgbClr val="FAFAFA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1352" y="4178808"/>
            <a:ext cx="28254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THE CORE TENSION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4507992"/>
            <a:ext cx="2825496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51515"/>
                </a:solidFill>
                <a:latin typeface="Arial"/>
              </a:defRPr>
            </a:pPr>
            <a:r>
              <a:t>Higher monetisation did not remove the balance-sheet and financing constraint.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592824"/>
            <a:ext cx="10698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6666"/>
                </a:solidFill>
                <a:latin typeface="Arial"/>
              </a:defRPr>
            </a:pPr>
            <a:r>
              <a:t>Source: Final corrected Excel workbook | All figures consolidated unless stated otherwise.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515"/>
                </a:solidFill>
                <a:latin typeface="Arial"/>
              </a:defRPr>
            </a:pPr>
            <a:r>
              <a:t>Operating Business vs Financing Burden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6666"/>
                </a:solidFill>
                <a:latin typeface="Arial"/>
              </a:defRPr>
            </a:pPr>
            <a:r>
              <a:t>Operating performance improved, but financing cost remained above EBITDA</a:t>
            </a:r>
          </a:p>
        </p:txBody>
      </p:sp>
      <p:sp>
        <p:nvSpPr>
          <p:cNvPr id="5" name="Oval 4"/>
          <p:cNvSpPr/>
          <p:nvPr/>
        </p:nvSpPr>
        <p:spPr>
          <a:xfrm>
            <a:off x="10835640" y="201168"/>
            <a:ext cx="329184" cy="329184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90504" y="218313"/>
            <a:ext cx="23317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12830" y="238886"/>
            <a:ext cx="857250" cy="2400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5" b="1">
                <a:solidFill>
                  <a:srgbClr val="E60000"/>
                </a:solidFill>
                <a:latin typeface="Arial"/>
              </a:defRPr>
            </a:pPr>
            <a:r>
              <a:t>vodafone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0B0B0"/>
                </a:solidFill>
              </a:defRPr>
            </a:pPr>
            <a:r>
              <a:t>3</a:t>
            </a:r>
          </a:p>
        </p:txBody>
      </p:sp>
      <p:pic>
        <p:nvPicPr>
          <p:cNvPr id="9" name="Picture 8" descr="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7818120" cy="387155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458200" y="1417320"/>
            <a:ext cx="3063240" cy="1051560"/>
          </a:xfrm>
          <a:prstGeom prst="roundRect">
            <a:avLst/>
          </a:prstGeom>
          <a:solidFill>
            <a:srgbClr val="FAFAFA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22792" y="1527048"/>
            <a:ext cx="2734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22792" y="1856232"/>
            <a:ext cx="2734056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51515"/>
                </a:solidFill>
                <a:latin typeface="Arial"/>
              </a:defRPr>
            </a:pPr>
            <a:r>
              <a:t>₹16,946 cr → ₹18,859 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2697480"/>
            <a:ext cx="3063240" cy="1051560"/>
          </a:xfrm>
          <a:prstGeom prst="roundRect">
            <a:avLst/>
          </a:prstGeom>
          <a:solidFill>
            <a:srgbClr val="FAFAFA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22792" y="2807208"/>
            <a:ext cx="2734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22792" y="3136392"/>
            <a:ext cx="2734056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51515"/>
                </a:solidFill>
                <a:latin typeface="Arial"/>
              </a:defRPr>
            </a:pPr>
            <a:r>
              <a:t>40.4% → 42.0%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3977639"/>
            <a:ext cx="3063240" cy="1234440"/>
          </a:xfrm>
          <a:prstGeom prst="roundRect">
            <a:avLst/>
          </a:prstGeom>
          <a:solidFill>
            <a:srgbClr val="FAFAFA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22792" y="4087368"/>
            <a:ext cx="2734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FY24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2792" y="4416552"/>
            <a:ext cx="2734056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51515"/>
                </a:solidFill>
                <a:latin typeface="Arial"/>
              </a:defRPr>
            </a:pPr>
            <a:r>
              <a:t>Finance cost exceeded EBITDA by ₹8,694 cr.</a:t>
            </a:r>
          </a:p>
        </p:txBody>
      </p:sp>
      <p:pic>
        <p:nvPicPr>
          <p:cNvPr id="19" name="Picture 18" descr="char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5166360"/>
            <a:ext cx="3337560" cy="11704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4360" y="6053328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151515"/>
                </a:solidFill>
                <a:latin typeface="Arial"/>
              </a:defRPr>
            </a:pPr>
            <a:r>
              <a:t>Message: operating EBITDA was substantial, but finance cost remained a major constraint on internally available cash.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92824"/>
            <a:ext cx="10698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6666"/>
                </a:solidFill>
                <a:latin typeface="Arial"/>
              </a:defRPr>
            </a:pPr>
            <a:r>
              <a:t>Source: Final corrected Excel workbook | Interest coverage = EBITDA / finance cost.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515"/>
                </a:solidFill>
                <a:latin typeface="Arial"/>
              </a:defRPr>
            </a:pPr>
            <a:r>
              <a:t>Working-Capital Distress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6666"/>
                </a:solidFill>
                <a:latin typeface="Arial"/>
              </a:defRPr>
            </a:pPr>
            <a:r>
              <a:t>Negative working capital persisted, but the deficit narrowed</a:t>
            </a:r>
          </a:p>
        </p:txBody>
      </p:sp>
      <p:sp>
        <p:nvSpPr>
          <p:cNvPr id="5" name="Oval 4"/>
          <p:cNvSpPr/>
          <p:nvPr/>
        </p:nvSpPr>
        <p:spPr>
          <a:xfrm>
            <a:off x="10835640" y="201168"/>
            <a:ext cx="329184" cy="329184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90504" y="218313"/>
            <a:ext cx="23317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12830" y="238886"/>
            <a:ext cx="857250" cy="2400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5" b="1">
                <a:solidFill>
                  <a:srgbClr val="E60000"/>
                </a:solidFill>
                <a:latin typeface="Arial"/>
              </a:defRPr>
            </a:pPr>
            <a:r>
              <a:t>vodafone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0B0B0"/>
                </a:solidFill>
              </a:defRPr>
            </a:pPr>
            <a:r>
              <a:t>4</a:t>
            </a:r>
          </a:p>
        </p:txBody>
      </p:sp>
      <p:pic>
        <p:nvPicPr>
          <p:cNvPr id="9" name="Picture 8" descr="char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7909560" cy="362640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49640" y="1417320"/>
            <a:ext cx="2880360" cy="960120"/>
          </a:xfrm>
          <a:prstGeom prst="roundRect">
            <a:avLst/>
          </a:prstGeom>
          <a:solidFill>
            <a:srgbClr val="FAFAFA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4232" y="1527048"/>
            <a:ext cx="25511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FY21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14232" y="1856232"/>
            <a:ext cx="2551176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51515"/>
                </a:solidFill>
                <a:latin typeface="Arial"/>
              </a:defRPr>
            </a:pPr>
            <a:r>
              <a:t>−₹52,303 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2606040"/>
            <a:ext cx="2880360" cy="960120"/>
          </a:xfrm>
          <a:prstGeom prst="roundRect">
            <a:avLst/>
          </a:prstGeom>
          <a:solidFill>
            <a:srgbClr val="FAFAFA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14232" y="2715768"/>
            <a:ext cx="25511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FY26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4232" y="3044952"/>
            <a:ext cx="2551176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51515"/>
                </a:solidFill>
                <a:latin typeface="Arial"/>
              </a:defRPr>
            </a:pPr>
            <a:r>
              <a:t>−₹17,813 cr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3794760"/>
            <a:ext cx="2880360" cy="1051560"/>
          </a:xfrm>
          <a:prstGeom prst="roundRect">
            <a:avLst/>
          </a:prstGeom>
          <a:solidFill>
            <a:srgbClr val="FAFAFA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3904488"/>
            <a:ext cx="25511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DEFICIT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4232" y="4233672"/>
            <a:ext cx="2551176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51515"/>
                </a:solidFill>
                <a:latin typeface="Arial"/>
              </a:defRPr>
            </a:pPr>
            <a:r>
              <a:t>66% narrower over FY21–FY26.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5074920"/>
            <a:ext cx="2880360" cy="960120"/>
          </a:xfrm>
          <a:prstGeom prst="roundRect">
            <a:avLst/>
          </a:prstGeom>
          <a:solidFill>
            <a:srgbClr val="FAFAFA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14232" y="5184648"/>
            <a:ext cx="25511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CURRENT 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14232" y="5513831"/>
            <a:ext cx="2551176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51515"/>
                </a:solidFill>
                <a:latin typeface="Arial"/>
              </a:defRPr>
            </a:pPr>
            <a:r>
              <a:t>0.21× → 0.55×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92824"/>
            <a:ext cx="10698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6666"/>
                </a:solidFill>
                <a:latin typeface="Arial"/>
              </a:defRPr>
            </a:pPr>
            <a:r>
              <a:t>Source: Final corrected Excel workbook | NWC = total current assets less total current liabilities.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515"/>
                </a:solidFill>
                <a:latin typeface="Arial"/>
              </a:defRPr>
            </a:pPr>
            <a:r>
              <a:t>Where Did the Distress Come From?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6666"/>
                </a:solidFill>
                <a:latin typeface="Arial"/>
              </a:defRPr>
            </a:pPr>
            <a:r>
              <a:t>The liability side explains more of the deficit than operating working-capital inefficiency</a:t>
            </a:r>
          </a:p>
        </p:txBody>
      </p:sp>
      <p:sp>
        <p:nvSpPr>
          <p:cNvPr id="5" name="Oval 4"/>
          <p:cNvSpPr/>
          <p:nvPr/>
        </p:nvSpPr>
        <p:spPr>
          <a:xfrm>
            <a:off x="10835640" y="201168"/>
            <a:ext cx="329184" cy="329184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90504" y="218313"/>
            <a:ext cx="23317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12830" y="238886"/>
            <a:ext cx="857250" cy="2400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5" b="1">
                <a:solidFill>
                  <a:srgbClr val="E60000"/>
                </a:solidFill>
                <a:latin typeface="Arial"/>
              </a:defRPr>
            </a:pPr>
            <a:r>
              <a:t>vodafone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0B0B0"/>
                </a:solidFill>
              </a:defRPr>
            </a:pPr>
            <a:r>
              <a:t>5</a:t>
            </a:r>
          </a:p>
        </p:txBody>
      </p:sp>
      <p:pic>
        <p:nvPicPr>
          <p:cNvPr id="9" name="Picture 8" descr="char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325880"/>
            <a:ext cx="5532120" cy="4251960"/>
          </a:xfrm>
          <a:prstGeom prst="rect">
            <a:avLst/>
          </a:prstGeom>
        </p:spPr>
      </p:pic>
      <p:pic>
        <p:nvPicPr>
          <p:cNvPr id="10" name="Picture 9" descr="chart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325880"/>
            <a:ext cx="5532120" cy="4251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" y="56052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E60000"/>
                </a:solidFill>
                <a:latin typeface="Arial"/>
              </a:defRPr>
            </a:pPr>
            <a:r>
              <a:t>LIABILITY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879592"/>
            <a:ext cx="51663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252525"/>
                </a:solidFill>
                <a:latin typeface="Arial"/>
              </a:defRPr>
            </a:pPr>
            <a:r>
              <a:t>Current maturities peaked at 43% of current liabilities in FY22 (₹26,378 cr) and fell to 27% by FY26 (₹10,559 cr).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56052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E60000"/>
                </a:solidFill>
                <a:latin typeface="Arial"/>
              </a:defRPr>
            </a:pPr>
            <a:r>
              <a:t>OPERATING INDICATORS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5879592"/>
            <a:ext cx="5074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252525"/>
                </a:solidFill>
                <a:latin typeface="Arial"/>
              </a:defRPr>
            </a:pPr>
            <a:r>
              <a:t>DSO improved from 23 to 16 days; DPO fell from 213 to 124 days; inventory never exceeded ₹21 cr.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592824"/>
            <a:ext cx="10698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6666"/>
                </a:solidFill>
                <a:latin typeface="Arial"/>
              </a:defRPr>
            </a:pPr>
            <a:r>
              <a:t>Source: Final corrected Excel workbook | DSO and DPO are the workbook's stated operating proxies.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515"/>
                </a:solidFill>
                <a:latin typeface="Arial"/>
              </a:defRPr>
            </a:pPr>
            <a:r>
              <a:t>Investment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6666"/>
                </a:solidFill>
                <a:latin typeface="Arial"/>
              </a:defRPr>
            </a:pPr>
            <a:r>
              <a:t>Investment intensity fell sharply during the liquidity-pressure period</a:t>
            </a:r>
          </a:p>
        </p:txBody>
      </p:sp>
      <p:sp>
        <p:nvSpPr>
          <p:cNvPr id="5" name="Oval 4"/>
          <p:cNvSpPr/>
          <p:nvPr/>
        </p:nvSpPr>
        <p:spPr>
          <a:xfrm>
            <a:off x="10835640" y="201168"/>
            <a:ext cx="329184" cy="329184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90504" y="218313"/>
            <a:ext cx="23317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12830" y="238886"/>
            <a:ext cx="857250" cy="2400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5" b="1">
                <a:solidFill>
                  <a:srgbClr val="E60000"/>
                </a:solidFill>
                <a:latin typeface="Arial"/>
              </a:defRPr>
            </a:pPr>
            <a:r>
              <a:t>vodafone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0B0B0"/>
                </a:solidFill>
              </a:defRPr>
            </a:pPr>
            <a:r>
              <a:t>6</a:t>
            </a:r>
          </a:p>
        </p:txBody>
      </p:sp>
      <p:pic>
        <p:nvPicPr>
          <p:cNvPr id="9" name="Picture 8" descr="chart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34440"/>
            <a:ext cx="8001000" cy="392356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49640" y="1417320"/>
            <a:ext cx="2926080" cy="1051560"/>
          </a:xfrm>
          <a:prstGeom prst="roundRect">
            <a:avLst/>
          </a:prstGeom>
          <a:solidFill>
            <a:srgbClr val="FAFAFA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4232" y="1527048"/>
            <a:ext cx="2596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FY24 CAPEX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14232" y="1856232"/>
            <a:ext cx="2596896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51515"/>
                </a:solidFill>
                <a:latin typeface="Arial"/>
              </a:defRPr>
            </a:pPr>
            <a:r>
              <a:t>₹1,530 cr | 3.6% of revenue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2743200"/>
            <a:ext cx="2926080" cy="1051560"/>
          </a:xfrm>
          <a:prstGeom prst="roundRect">
            <a:avLst/>
          </a:prstGeom>
          <a:solidFill>
            <a:srgbClr val="FAFAFA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14232" y="2852928"/>
            <a:ext cx="2596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FY24 CWIP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4232" y="3182112"/>
            <a:ext cx="2596896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51515"/>
                </a:solidFill>
                <a:latin typeface="Arial"/>
              </a:defRPr>
            </a:pPr>
            <a:r>
              <a:t>₹18,189 cr remained elevated.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4069080"/>
            <a:ext cx="2926080" cy="1371600"/>
          </a:xfrm>
          <a:prstGeom prst="roundRect">
            <a:avLst/>
          </a:prstGeom>
          <a:solidFill>
            <a:srgbClr val="FAFAFA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4178808"/>
            <a:ext cx="2596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FY25–FY26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4232" y="4507992"/>
            <a:ext cx="259689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51515"/>
                </a:solidFill>
                <a:latin typeface="Arial"/>
              </a:defRPr>
            </a:pPr>
            <a:r>
              <a:t>Capex rebounded to ₹10,220 cr and ₹10,814 cr while CWIP began declining.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5989320"/>
            <a:ext cx="772667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1">
                <a:solidFill>
                  <a:srgbClr val="151515"/>
                </a:solidFill>
                <a:latin typeface="Arial"/>
              </a:defRPr>
            </a:pPr>
            <a:r>
              <a:t>Interpretation: the investment pattern moved closely with liquidity availability, consistent with funding constraints limiting the pace of investment in FY24.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92824"/>
            <a:ext cx="10698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6666"/>
                </a:solidFill>
                <a:latin typeface="Arial"/>
              </a:defRPr>
            </a:pPr>
            <a:r>
              <a:t>Source: Final corrected Excel workbook | Model capex uses cash purchase of PPE/intangibles. Company-disclosed FY26 capex on a narrower definition: ₹8,742 cr.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515"/>
                </a:solidFill>
                <a:latin typeface="Arial"/>
              </a:defRPr>
            </a:pPr>
            <a:r>
              <a:t>Investment → Business Consequence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6666"/>
                </a:solidFill>
                <a:latin typeface="Arial"/>
              </a:defRPr>
            </a:pPr>
            <a:r>
              <a:t>Investment constraints coincided with a significant subscriber decline</a:t>
            </a:r>
          </a:p>
        </p:txBody>
      </p:sp>
      <p:sp>
        <p:nvSpPr>
          <p:cNvPr id="5" name="Oval 4"/>
          <p:cNvSpPr/>
          <p:nvPr/>
        </p:nvSpPr>
        <p:spPr>
          <a:xfrm>
            <a:off x="10835640" y="201168"/>
            <a:ext cx="329184" cy="329184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90504" y="218313"/>
            <a:ext cx="23317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12830" y="238886"/>
            <a:ext cx="857250" cy="2400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5" b="1">
                <a:solidFill>
                  <a:srgbClr val="E60000"/>
                </a:solidFill>
                <a:latin typeface="Arial"/>
              </a:defRPr>
            </a:pPr>
            <a:r>
              <a:t>vodafone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0B0B0"/>
                </a:solidFill>
              </a:defRPr>
            </a:pPr>
            <a:r>
              <a:t>7</a:t>
            </a:r>
          </a:p>
        </p:txBody>
      </p:sp>
      <p:pic>
        <p:nvPicPr>
          <p:cNvPr id="9" name="Picture 8" descr="chart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7955279" cy="390114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49640" y="1417320"/>
            <a:ext cx="2834640" cy="1188720"/>
          </a:xfrm>
          <a:prstGeom prst="roundRect">
            <a:avLst/>
          </a:prstGeom>
          <a:solidFill>
            <a:srgbClr val="FAFAFA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4232" y="1527048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SUBSCRIBERS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14232" y="1856232"/>
            <a:ext cx="2505456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51515"/>
                </a:solidFill>
                <a:latin typeface="Arial"/>
              </a:defRPr>
            </a:pPr>
            <a:r>
              <a:t>267.8m → 192.8m</a:t>
            </a:r>
            <a:br/>
            <a:r>
              <a:t>−75.0m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2880360"/>
            <a:ext cx="2834640" cy="1188720"/>
          </a:xfrm>
          <a:prstGeom prst="roundRect">
            <a:avLst/>
          </a:prstGeom>
          <a:solidFill>
            <a:srgbClr val="FAFAFA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14232" y="2990088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Q4 EXIT ARPU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4232" y="3319272"/>
            <a:ext cx="2505456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51515"/>
                </a:solidFill>
                <a:latin typeface="Arial"/>
              </a:defRPr>
            </a:pPr>
            <a:r>
              <a:t>₹107 → ₹190</a:t>
            </a:r>
            <a:br/>
            <a:r>
              <a:t>+77.6%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4343400"/>
            <a:ext cx="3063240" cy="1481328"/>
          </a:xfrm>
          <a:prstGeom prst="roundRect">
            <a:avLst/>
          </a:prstGeom>
          <a:solidFill>
            <a:srgbClr val="FFF5F5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68512" y="449884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E60000"/>
                </a:solidFill>
                <a:latin typeface="Arial"/>
              </a:defRPr>
            </a:pPr>
            <a:r>
              <a:t>5G / FUNDING SEQUENCE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4782312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252525"/>
                </a:solidFill>
                <a:latin typeface="Arial"/>
              </a:defRPr>
            </a:pPr>
            <a:r>
              <a:t>2022 spectrum acquisition</a:t>
            </a:r>
            <a:br/>
            <a:r>
              <a:t>↓</a:t>
            </a:r>
            <a:br/>
            <a:r>
              <a:t>FY23 CWIP surge</a:t>
            </a:r>
            <a:br/>
            <a:r>
              <a:t>↓</a:t>
            </a:r>
            <a:br/>
            <a:r>
              <a:t>FY24 capex compression</a:t>
            </a:r>
            <a:br/>
            <a:r>
              <a:t>↓</a:t>
            </a:r>
            <a:br/>
            <a:r>
              <a:t>2024 ₹24,000 cr equity raise</a:t>
            </a:r>
            <a:br/>
            <a:r>
              <a:t>↓</a:t>
            </a:r>
            <a:br/>
            <a:r>
              <a:t>2025 commercial 5G launch</a:t>
            </a:r>
            <a:br/>
            <a:r>
              <a:t>↓</a:t>
            </a:r>
            <a:br/>
            <a:r>
              <a:t>FY26 5G expanded to 83 cities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989320"/>
            <a:ext cx="772667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1">
                <a:solidFill>
                  <a:srgbClr val="151515"/>
                </a:solidFill>
                <a:latin typeface="Arial"/>
              </a:defRPr>
            </a:pPr>
            <a:r>
              <a:t>Key takeaway: ARPU improved, but higher monetisation did not fully offset the decline in the subscriber base.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92824"/>
            <a:ext cx="10698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6666"/>
                </a:solidFill>
                <a:latin typeface="Arial"/>
              </a:defRPr>
            </a:pPr>
            <a:r>
              <a:t>Source: Final corrected Excel workbook and the Investment Timeline sheet | Subscriber and ARPU series are Q4/period-end operating measures.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515"/>
                </a:solidFill>
                <a:latin typeface="Arial"/>
              </a:defRPr>
            </a:pPr>
            <a:r>
              <a:t>Financing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6666"/>
                </a:solidFill>
                <a:latin typeface="Arial"/>
              </a:defRPr>
            </a:pPr>
            <a:r>
              <a:t>Financing options became increasingly constrained</a:t>
            </a:r>
          </a:p>
        </p:txBody>
      </p:sp>
      <p:sp>
        <p:nvSpPr>
          <p:cNvPr id="5" name="Oval 4"/>
          <p:cNvSpPr/>
          <p:nvPr/>
        </p:nvSpPr>
        <p:spPr>
          <a:xfrm>
            <a:off x="10835640" y="201168"/>
            <a:ext cx="329184" cy="329184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90504" y="218313"/>
            <a:ext cx="23317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12830" y="238886"/>
            <a:ext cx="857250" cy="2400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5" b="1">
                <a:solidFill>
                  <a:srgbClr val="E60000"/>
                </a:solidFill>
                <a:latin typeface="Arial"/>
              </a:defRPr>
            </a:pPr>
            <a:r>
              <a:t>vodafone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0B0B0"/>
                </a:solidFill>
              </a:defRPr>
            </a:pPr>
            <a:r>
              <a:t>8</a:t>
            </a:r>
          </a:p>
        </p:txBody>
      </p:sp>
      <p:pic>
        <p:nvPicPr>
          <p:cNvPr id="9" name="Picture 8" descr="chart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25880"/>
            <a:ext cx="5349240" cy="4434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13258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E60000"/>
                </a:solidFill>
                <a:latin typeface="Arial"/>
              </a:defRPr>
            </a:pPr>
            <a:r>
              <a:t>FINANCING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52578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52525"/>
                </a:solidFill>
                <a:latin typeface="Arial"/>
              </a:defRPr>
            </a:pPr>
            <a:r>
              <a:t>• Funded bank debt in the final Excel falls to ₹2,326 cr in FY25 and ₹726 cr in FY26.</a:t>
            </a:r>
          </a:p>
          <a:p>
            <a:pPr>
              <a:spcAft>
                <a:spcPts val="700"/>
              </a:spcAft>
              <a:defRPr sz="1300">
                <a:solidFill>
                  <a:srgbClr val="252525"/>
                </a:solidFill>
                <a:latin typeface="Arial"/>
              </a:defRPr>
            </a:pPr>
            <a:r>
              <a:t>• Government conversion of spectrum dues was a major restructuring mechanism; the workbook records ₹36,950 cr agreed for conversion.</a:t>
            </a:r>
          </a:p>
          <a:p>
            <a:pPr>
              <a:spcAft>
                <a:spcPts val="700"/>
              </a:spcAft>
              <a:defRPr sz="1300">
                <a:solidFill>
                  <a:srgbClr val="252525"/>
                </a:solidFill>
                <a:latin typeface="Arial"/>
              </a:defRPr>
            </a:pPr>
            <a:r>
              <a:t>• FY24 included an ₹18,000 cr FPO and ₹2,075 cr preferential issue.</a:t>
            </a:r>
          </a:p>
          <a:p>
            <a:pPr>
              <a:spcAft>
                <a:spcPts val="700"/>
              </a:spcAft>
              <a:defRPr sz="1300">
                <a:solidFill>
                  <a:srgbClr val="252525"/>
                </a:solidFill>
                <a:latin typeface="Arial"/>
              </a:defRPr>
            </a:pPr>
            <a:r>
              <a:t>• Equity share capital rose from ₹28,735 cr in FY21 to ₹108,343 cr in FY26.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257800"/>
            <a:ext cx="2468880" cy="914400"/>
          </a:xfrm>
          <a:prstGeom prst="roundRect">
            <a:avLst/>
          </a:prstGeom>
          <a:solidFill>
            <a:srgbClr val="FAFAFA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5367528"/>
            <a:ext cx="21396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FY26 GOVERNMENT 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5696712"/>
            <a:ext cx="21396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51515"/>
                </a:solidFill>
                <a:latin typeface="Arial"/>
              </a:defRPr>
            </a:pPr>
            <a:r>
              <a:t>49.02%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0128" y="5257800"/>
            <a:ext cx="2468880" cy="914400"/>
          </a:xfrm>
          <a:prstGeom prst="roundRect">
            <a:avLst/>
          </a:prstGeom>
          <a:solidFill>
            <a:srgbClr val="FAFAFA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5367528"/>
            <a:ext cx="21396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FY26 PROMOTER 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5696712"/>
            <a:ext cx="21396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51515"/>
                </a:solidFill>
                <a:latin typeface="Arial"/>
              </a:defRPr>
            </a:pPr>
            <a:r>
              <a:t>25.64%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36208"/>
            <a:ext cx="10424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151515"/>
                </a:solidFill>
                <a:latin typeface="Arial"/>
              </a:defRPr>
            </a:pPr>
            <a:r>
              <a:t>Key takeaway: as conventional debt capacity became constrained, equity and liability restructuring became increasingly important sources of financial support.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592824"/>
            <a:ext cx="10698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6666"/>
                </a:solidFill>
                <a:latin typeface="Arial"/>
              </a:defRPr>
            </a:pPr>
            <a:r>
              <a:t>Source: Final corrected Excel workbook | Shareholding shown as at 31 March each year.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515"/>
                </a:solidFill>
                <a:latin typeface="Arial"/>
              </a:defRPr>
            </a:pPr>
            <a:r>
              <a:t>The Inflection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6666"/>
                </a:solidFill>
                <a:latin typeface="Arial"/>
              </a:defRPr>
            </a:pPr>
            <a:r>
              <a:t>FY24–FY26: evidence of the Working Capital → Investment linkage</a:t>
            </a:r>
          </a:p>
        </p:txBody>
      </p:sp>
      <p:sp>
        <p:nvSpPr>
          <p:cNvPr id="5" name="Oval 4"/>
          <p:cNvSpPr/>
          <p:nvPr/>
        </p:nvSpPr>
        <p:spPr>
          <a:xfrm>
            <a:off x="10835640" y="201168"/>
            <a:ext cx="329184" cy="329184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90504" y="218313"/>
            <a:ext cx="23317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12830" y="238886"/>
            <a:ext cx="857250" cy="2400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5" b="1">
                <a:solidFill>
                  <a:srgbClr val="E60000"/>
                </a:solidFill>
                <a:latin typeface="Arial"/>
              </a:defRPr>
            </a:pPr>
            <a:r>
              <a:t>vodafone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0B0B0"/>
                </a:solidFill>
              </a:defRPr>
            </a:pPr>
            <a: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417320"/>
          <a:ext cx="1083564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  <a:gridCol w="2240280"/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L="64008" marR="45720" marT="36576" marB="36576">
                    <a:solidFill>
                      <a:srgbClr val="E6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FY23</a:t>
                      </a:r>
                    </a:p>
                  </a:txBody>
                  <a:tcPr marL="64008" marR="45720" marT="36576" marB="36576">
                    <a:solidFill>
                      <a:srgbClr val="E6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FY24</a:t>
                      </a:r>
                    </a:p>
                  </a:txBody>
                  <a:tcPr marL="64008" marR="45720" marT="36576" marB="36576">
                    <a:solidFill>
                      <a:srgbClr val="E6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FY25</a:t>
                      </a:r>
                    </a:p>
                  </a:txBody>
                  <a:tcPr marL="64008" marR="45720" marT="36576" marB="36576">
                    <a:solidFill>
                      <a:srgbClr val="E6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FY26</a:t>
                      </a:r>
                    </a:p>
                  </a:txBody>
                  <a:tcPr marL="64008" marR="45720" marT="36576" marB="36576">
                    <a:solidFill>
                      <a:srgbClr val="E60000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NWC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−₹46,122 cr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−₹41,232 cr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−₹24,575 cr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−₹17,813 cr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Liquid Assets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₹235 cr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₹169 cr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₹6,310 cr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₹3,715 cr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Capex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₹5,537 cr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₹1,530 cr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₹10,220 cr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₹10,814 cr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Capex / Revenue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13.1%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3.6%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23.5%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51515"/>
                          </a:solidFill>
                          <a:latin typeface="Arial"/>
                        </a:defRPr>
                      </a:pPr>
                      <a:r>
                        <a:t>24.1%</a:t>
                      </a:r>
                    </a:p>
                  </a:txBody>
                  <a:tcPr marL="64008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" y="4251960"/>
            <a:ext cx="2788920" cy="1325880"/>
          </a:xfrm>
          <a:prstGeom prst="roundRect">
            <a:avLst/>
          </a:prstGeom>
          <a:solidFill>
            <a:srgbClr val="FAFAFA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443484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FY24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80060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51515"/>
                </a:solidFill>
                <a:latin typeface="Arial"/>
              </a:defRPr>
            </a:pPr>
            <a:r>
              <a:t>Liquidity pressure</a:t>
            </a:r>
            <a:br/>
            <a:r>
              <a:t>→ Capex collapse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4251960"/>
            <a:ext cx="2788920" cy="1325880"/>
          </a:xfrm>
          <a:prstGeom prst="roundRect">
            <a:avLst/>
          </a:prstGeom>
          <a:solidFill>
            <a:srgbClr val="FAFAFA"/>
          </a:solidFill>
          <a:ln>
            <a:solidFill>
              <a:srgbClr val="17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33672" y="443484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7866F"/>
                </a:solidFill>
                <a:latin typeface="Arial"/>
              </a:defRPr>
            </a:pPr>
            <a:r>
              <a:t>FY25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2" y="480060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51515"/>
                </a:solidFill>
                <a:latin typeface="Arial"/>
              </a:defRPr>
            </a:pPr>
            <a:r>
              <a:t>Equity raising + improved liquidity</a:t>
            </a:r>
            <a:br/>
            <a:r>
              <a:t>→ Capex rebound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4251960"/>
            <a:ext cx="2788920" cy="1325880"/>
          </a:xfrm>
          <a:prstGeom prst="roundRect">
            <a:avLst/>
          </a:prstGeom>
          <a:solidFill>
            <a:srgbClr val="FAFAFA"/>
          </a:solidFill>
          <a:ln>
            <a:solidFill>
              <a:srgbClr val="263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5512" y="443484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63F70"/>
                </a:solidFill>
                <a:latin typeface="Arial"/>
              </a:defRPr>
            </a:pPr>
            <a:r>
              <a:t>FY26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480060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51515"/>
                </a:solidFill>
                <a:latin typeface="Arial"/>
              </a:defRPr>
            </a:pPr>
            <a:r>
              <a:t>Sustained investment</a:t>
            </a:r>
            <a:br/>
            <a:r>
              <a:t>→ CWIP reduction + 5G expansion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89788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E60000"/>
                </a:solidFill>
                <a:latin typeface="Arial"/>
              </a:defRPr>
            </a:pPr>
            <a:r>
              <a:t>Bottom conclusion: the FY24 → FY25 → FY26 sequence provides the clearest evidence of the WC → Investment linkage in the case.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92824"/>
            <a:ext cx="10698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6666"/>
                </a:solidFill>
                <a:latin typeface="Arial"/>
              </a:defRPr>
            </a:pPr>
            <a:r>
              <a:t>Source: Final corrected Excel workbook | Liquid assets = cash + short-term investments.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515"/>
                </a:solidFill>
                <a:latin typeface="Arial"/>
              </a:defRPr>
            </a:pPr>
            <a:r>
              <a:t>Conclusion: A Partial Recovery, Not Full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6666"/>
                </a:solidFill>
                <a:latin typeface="Arial"/>
              </a:defRPr>
            </a:pPr>
            <a:r>
              <a:t>The balance-sheet pressure narrowed, but material financing constraints remained</a:t>
            </a:r>
          </a:p>
        </p:txBody>
      </p:sp>
      <p:sp>
        <p:nvSpPr>
          <p:cNvPr id="5" name="Oval 4"/>
          <p:cNvSpPr/>
          <p:nvPr/>
        </p:nvSpPr>
        <p:spPr>
          <a:xfrm>
            <a:off x="10835640" y="201168"/>
            <a:ext cx="329184" cy="329184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90504" y="218313"/>
            <a:ext cx="23317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12830" y="238886"/>
            <a:ext cx="857250" cy="2400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5" b="1">
                <a:solidFill>
                  <a:srgbClr val="E60000"/>
                </a:solidFill>
                <a:latin typeface="Arial"/>
              </a:defRPr>
            </a:pPr>
            <a:r>
              <a:t>vodafone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0B0B0"/>
                </a:solidFill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5440680" cy="4526280"/>
          </a:xfrm>
          <a:prstGeom prst="roundRect">
            <a:avLst/>
          </a:prstGeom>
          <a:solidFill>
            <a:srgbClr val="F8F8F8"/>
          </a:solidFill>
          <a:ln>
            <a:solidFill>
              <a:srgbClr val="178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5727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7866F"/>
                </a:solidFill>
                <a:latin typeface="Arial"/>
              </a:defRPr>
            </a:pPr>
            <a:r>
              <a:t>WHAT IMPROVED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938528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52525"/>
                </a:solidFill>
                <a:latin typeface="Arial"/>
              </a:defRPr>
            </a:pPr>
            <a:r>
              <a:t>• NWC deficit narrowed from ₹52,303 cr to ₹17,813 cr.</a:t>
            </a:r>
          </a:p>
          <a:p>
            <a:pPr>
              <a:spcAft>
                <a:spcPts val="700"/>
              </a:spcAft>
              <a:defRPr sz="1250">
                <a:solidFill>
                  <a:srgbClr val="252525"/>
                </a:solidFill>
                <a:latin typeface="Arial"/>
              </a:defRPr>
            </a:pPr>
            <a:r>
              <a:t>• EBITDA increased from ₹16,946 cr to ₹18,859 cr.</a:t>
            </a:r>
          </a:p>
          <a:p>
            <a:pPr>
              <a:spcAft>
                <a:spcPts val="700"/>
              </a:spcAft>
              <a:defRPr sz="1250">
                <a:solidFill>
                  <a:srgbClr val="252525"/>
                </a:solidFill>
                <a:latin typeface="Arial"/>
              </a:defRPr>
            </a:pPr>
            <a:r>
              <a:t>• EBITDA margin improved to 42.0%.</a:t>
            </a:r>
          </a:p>
          <a:p>
            <a:pPr>
              <a:spcAft>
                <a:spcPts val="700"/>
              </a:spcAft>
              <a:defRPr sz="1250">
                <a:solidFill>
                  <a:srgbClr val="252525"/>
                </a:solidFill>
                <a:latin typeface="Arial"/>
              </a:defRPr>
            </a:pPr>
            <a:r>
              <a:t>• ARPU increased to ₹190.</a:t>
            </a:r>
          </a:p>
          <a:p>
            <a:pPr>
              <a:spcAft>
                <a:spcPts val="700"/>
              </a:spcAft>
              <a:defRPr sz="1250">
                <a:solidFill>
                  <a:srgbClr val="252525"/>
                </a:solidFill>
                <a:latin typeface="Arial"/>
              </a:defRPr>
            </a:pPr>
            <a:r>
              <a:t>• Capex recovered strongly in FY25–FY26.</a:t>
            </a:r>
          </a:p>
          <a:p>
            <a:pPr>
              <a:spcAft>
                <a:spcPts val="700"/>
              </a:spcAft>
              <a:defRPr sz="1250">
                <a:solidFill>
                  <a:srgbClr val="252525"/>
                </a:solidFill>
                <a:latin typeface="Arial"/>
              </a:defRPr>
            </a:pPr>
            <a:r>
              <a:t>• CWIP declined from ₹18,213 cr to ₹15,274 cr.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394960" cy="4526280"/>
          </a:xfrm>
          <a:prstGeom prst="roundRect">
            <a:avLst/>
          </a:prstGeom>
          <a:solidFill>
            <a:srgbClr val="FFF7F7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727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E60000"/>
                </a:solidFill>
                <a:latin typeface="Arial"/>
              </a:defRPr>
            </a:pPr>
            <a:r>
              <a:t>WHAT REMAINED UNRESOLVED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38528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52525"/>
                </a:solidFill>
                <a:latin typeface="Arial"/>
              </a:defRPr>
            </a:pPr>
            <a:r>
              <a:t>• Net worth remained negative at −₹35,758 cr in FY26.</a:t>
            </a:r>
          </a:p>
          <a:p>
            <a:pPr>
              <a:spcAft>
                <a:spcPts val="700"/>
              </a:spcAft>
              <a:defRPr sz="1250">
                <a:solidFill>
                  <a:srgbClr val="252525"/>
                </a:solidFill>
                <a:latin typeface="Arial"/>
              </a:defRPr>
            </a:pPr>
            <a:r>
              <a:t>• Interest coverage remained below 1× at 0.88×.</a:t>
            </a:r>
          </a:p>
          <a:p>
            <a:pPr>
              <a:spcAft>
                <a:spcPts val="700"/>
              </a:spcAft>
              <a:defRPr sz="1250">
                <a:solidFill>
                  <a:srgbClr val="252525"/>
                </a:solidFill>
                <a:latin typeface="Arial"/>
              </a:defRPr>
            </a:pPr>
            <a:r>
              <a:t>• Future spectrum-related obligations remained relevant.</a:t>
            </a:r>
          </a:p>
          <a:p>
            <a:pPr>
              <a:spcAft>
                <a:spcPts val="700"/>
              </a:spcAft>
              <a:defRPr sz="1250">
                <a:solidFill>
                  <a:srgbClr val="252525"/>
                </a:solidFill>
                <a:latin typeface="Arial"/>
              </a:defRPr>
            </a:pPr>
            <a:r>
              <a:t>• Financing requirements remained significant.</a:t>
            </a:r>
          </a:p>
          <a:p>
            <a:pPr>
              <a:spcAft>
                <a:spcPts val="700"/>
              </a:spcAft>
              <a:defRPr sz="1250">
                <a:solidFill>
                  <a:srgbClr val="252525"/>
                </a:solidFill>
                <a:latin typeface="Arial"/>
              </a:defRPr>
            </a:pPr>
            <a:r>
              <a:t>• Subscriber base remained 75.0m below FY21.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6053328"/>
            <a:ext cx="10652760" cy="411480"/>
          </a:xfrm>
          <a:prstGeom prst="round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6144768"/>
            <a:ext cx="103327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Vodafone Idea's FY25–FY26 improvement shows that liquidity and restructuring can restore investment capacity, but balance-sheet and financing pressures remained material by FY26.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592824"/>
            <a:ext cx="10698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66666"/>
                </a:solidFill>
                <a:latin typeface="Arial"/>
              </a:defRPr>
            </a:pPr>
            <a:r>
              <a:t>Source: Final corrected Excel workbook | Academic case analysis; not investment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